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Total Revenue by Menu Item (£)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C6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Salad</c:v>
                  </c:pt>
                  <c:pt idx="1">
                    <c:v>Sandwich</c:v>
                  </c:pt>
                  <c:pt idx="2">
                    <c:v>Smoothie</c:v>
                  </c:pt>
                  <c:pt idx="3">
                    <c:v>Juice</c:v>
                  </c:pt>
                  <c:pt idx="4">
                    <c:v>Cake</c:v>
                  </c:pt>
                  <c:pt idx="5">
                    <c:v>Coffee</c:v>
                  </c:pt>
                  <c:pt idx="6">
                    <c:v>Tea</c:v>
                  </c:pt>
                  <c:pt idx="7">
                    <c:v>Cookie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17365</c:v>
                </c:pt>
                <c:pt idx="1">
                  <c:v>13751</c:v>
                </c:pt>
                <c:pt idx="2">
                  <c:v>13362</c:v>
                </c:pt>
                <c:pt idx="3">
                  <c:v>10542</c:v>
                </c:pt>
                <c:pt idx="4">
                  <c:v>10413</c:v>
                </c:pt>
                <c:pt idx="5">
                  <c:v>7107</c:v>
                </c:pt>
                <c:pt idx="6">
                  <c:v>4974</c:v>
                </c:pt>
                <c:pt idx="7">
                  <c:v>3256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F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Transaction Count by Item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Salad</c:v>
                  </c:pt>
                  <c:pt idx="1">
                    <c:v>Sandwich</c:v>
                  </c:pt>
                  <c:pt idx="2">
                    <c:v>Smoothie</c:v>
                  </c:pt>
                  <c:pt idx="3">
                    <c:v>Juice</c:v>
                  </c:pt>
                  <c:pt idx="4">
                    <c:v>Cake</c:v>
                  </c:pt>
                  <c:pt idx="5">
                    <c:v>Coffee</c:v>
                  </c:pt>
                  <c:pt idx="6">
                    <c:v>Tea</c:v>
                  </c:pt>
                  <c:pt idx="7">
                    <c:v>Cookie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1148</c:v>
                </c:pt>
                <c:pt idx="1">
                  <c:v>1131</c:v>
                </c:pt>
                <c:pt idx="2">
                  <c:v>1096</c:v>
                </c:pt>
                <c:pt idx="3">
                  <c:v>1171</c:v>
                </c:pt>
                <c:pt idx="4">
                  <c:v>1139</c:v>
                </c:pt>
                <c:pt idx="5">
                  <c:v>1165</c:v>
                </c:pt>
                <c:pt idx="6">
                  <c:v>1089</c:v>
                </c:pt>
                <c:pt idx="7">
                  <c:v>1092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F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Monthly Total Sales — FY 2023 (£)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(£)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7281</c:v>
                </c:pt>
                <c:pt idx="1">
                  <c:v>6660.5</c:v>
                </c:pt>
                <c:pt idx="2">
                  <c:v>7226.5</c:v>
                </c:pt>
                <c:pt idx="3">
                  <c:v>7207</c:v>
                </c:pt>
                <c:pt idx="4">
                  <c:v>7007.5</c:v>
                </c:pt>
                <c:pt idx="5">
                  <c:v>7362</c:v>
                </c:pt>
                <c:pt idx="6">
                  <c:v>6885</c:v>
                </c:pt>
                <c:pt idx="7">
                  <c:v>7110.5</c:v>
                </c:pt>
                <c:pt idx="8">
                  <c:v>6894</c:v>
                </c:pt>
                <c:pt idx="9">
                  <c:v>7323</c:v>
                </c:pt>
                <c:pt idx="10">
                  <c:v>6969</c:v>
                </c:pt>
                <c:pt idx="11">
                  <c:v>7210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  <c:min val="6000"/>
        </c:scaling>
        <c:delete val="0"/>
        <c:axPos val="l"/>
        <c:majorGridlines>
          <c:spPr>
            <a:ln w="6350" cap="flat">
              <a:solidFill>
                <a:srgbClr val="0F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74320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274320"/>
            <a:ext cx="91440" cy="914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14630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TO CLEAN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3317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154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E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Sales Analysis Report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703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Outlier Detection — Task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097280"/>
            <a:ext cx="621792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1207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664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286000"/>
            <a:ext cx="621792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23957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852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621792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60720" y="35844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663440"/>
            <a:ext cx="621792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60720" y="47731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5230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6309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· Data Analytics Division · 2023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1155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Initial Inspection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structure, dtypes, dimensions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5486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2311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12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96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anomalies, ERROR strings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236976"/>
            <a:ext cx="5486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34670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284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124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standardization, type conversion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352544"/>
            <a:ext cx="5486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44622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43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quartiles post-cleaning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5468112"/>
            <a:ext cx="5486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5577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559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&amp; Revenue Analysis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Best-sellers, revenue by menu item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1005840"/>
            <a:ext cx="557784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11155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Location Breakdown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and location distribution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121408"/>
            <a:ext cx="557784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22311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212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Trends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596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pattern FY 2023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3236976"/>
            <a:ext cx="557784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46520" y="334670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3284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7124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and Z-Score analysis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4352544"/>
            <a:ext cx="557784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46520" y="44622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4443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DATASET OVERVIEW &amp; INITIAL INSPECTION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1078992"/>
            <a:ext cx="242316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84632" y="153253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914400"/>
            <a:ext cx="54864" cy="1188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4992" y="1078992"/>
            <a:ext cx="242316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53253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914400"/>
            <a:ext cx="265176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0" y="914400"/>
            <a:ext cx="54864" cy="1188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45352" y="1078992"/>
            <a:ext cx="242316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153253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914400"/>
            <a:ext cx="265176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0" y="914400"/>
            <a:ext cx="54864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25712" y="1078992"/>
            <a:ext cx="242316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125712" y="153253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DTypes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2331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Schema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724912"/>
            <a:ext cx="1152144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761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2761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(Raw→Clean)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2761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1152144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3163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key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11296"/>
            <a:ext cx="11521440" cy="36576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 name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13632"/>
            <a:ext cx="1152144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206240" y="3968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str→Int64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3968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purchased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315968"/>
            <a:ext cx="11521440" cy="36576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7200" y="4370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206240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str→float64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(£)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718304"/>
            <a:ext cx="1152144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7200" y="4773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206240" y="4773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str→float64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Price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5120640"/>
            <a:ext cx="11521440" cy="36576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5175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206240" y="5175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772400" y="5175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Card / Digital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5522976"/>
            <a:ext cx="1152144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57200" y="5577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206240" y="5577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5577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/ Takeaway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5925312"/>
            <a:ext cx="11521440" cy="36576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57200" y="5980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206240" y="5980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str→datetime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772400" y="5980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QUALITY ASSESSMENT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Before Cleaning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777240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08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408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081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%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4081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77724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847088"/>
            <a:ext cx="45720" cy="2286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231136"/>
            <a:ext cx="7772400" cy="420624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304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304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322576"/>
            <a:ext cx="175315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706624"/>
            <a:ext cx="77724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2779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27797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779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798064"/>
            <a:ext cx="252180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182112"/>
            <a:ext cx="7772400" cy="420624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3255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32552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3255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5.33%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273552"/>
            <a:ext cx="280610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657600"/>
            <a:ext cx="77724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37307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5.02%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3749040"/>
            <a:ext cx="264289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4133088"/>
            <a:ext cx="7772400" cy="420624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7432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25.79%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224528"/>
            <a:ext cx="1357773" cy="228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4608576"/>
            <a:ext cx="7772400" cy="4206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7200" y="4681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743200" y="4681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3265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0" y="4681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32.65%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4700016"/>
            <a:ext cx="1718933" cy="228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5084064"/>
            <a:ext cx="7772400" cy="420624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51572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743200" y="5157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0" y="5157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35040" y="5175504"/>
            <a:ext cx="242177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1" name="Shape 49"/>
          <p:cNvSpPr/>
          <p:nvPr/>
        </p:nvSpPr>
        <p:spPr>
          <a:xfrm>
            <a:off x="8321040" y="960120"/>
            <a:ext cx="3520440" cy="5577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4582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Anomalies Detected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458200" y="167335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705088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strings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705088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Total Spent, Location, Payment Method &amp; Transaction Date columns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458200" y="258775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705088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values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705088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Item, Payment Method, Location as literal text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58200" y="350215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705088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data types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705088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loaded as str; numeric/date conversions needed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458200" y="441655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705088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calculations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8705088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≠ Qty × Price in some rows (ERROR entries)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58200" y="5330952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705088" y="5257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missingness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705088" y="5577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(32.65%) and Payment Method (25.79%) have major gaps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CLEANING PROCESS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48840" cy="2926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05156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737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212848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pd.to_numeric(errors="coerce")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pd.to_datetime(errors="coerce")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2304288"/>
            <a:ext cx="1828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960120"/>
            <a:ext cx="2148840" cy="2926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1051560"/>
            <a:ext cx="594360" cy="59436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737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Fill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212848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→ "Unknown"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→ "Unknown"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→ "Not defined"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304288"/>
            <a:ext cx="1828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960120"/>
            <a:ext cx="2148840" cy="2926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0" y="105156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6072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1737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Imputation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2212848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→ median()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→ median()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2304288"/>
            <a:ext cx="1828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960120"/>
            <a:ext cx="2148840" cy="2926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2440" y="105156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9244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737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Fill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212848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rows filled via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Price Per Unit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64040" y="2304288"/>
            <a:ext cx="18288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9646920" y="960120"/>
            <a:ext cx="2148840" cy="2926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24160" y="1051560"/>
            <a:ext cx="594360" cy="59436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2416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1737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Labels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2212848"/>
            <a:ext cx="1965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→ "Unknown"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→ "Not defined"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2004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Key Metrics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4480560"/>
            <a:ext cx="777240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45171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4517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4517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864608"/>
            <a:ext cx="7772400" cy="3017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7200" y="49011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(Item)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4901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0" y="49011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5193792"/>
            <a:ext cx="7772400" cy="30175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7200" y="52303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(Quantity)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52303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0" y="5230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5522976"/>
            <a:ext cx="7772400" cy="3017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7200" y="55595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(Price/Unit)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0" y="55595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533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943600" y="5559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5852160"/>
            <a:ext cx="7772400" cy="30175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57200" y="58887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(Total Spent)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657600" y="58887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58887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(recalculated)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6181344"/>
            <a:ext cx="7772400" cy="3017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57200" y="6217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strings in Total Spent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657600" y="6217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94360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→ NaN → filled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" y="6510528"/>
            <a:ext cx="7772400" cy="30175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57200" y="65471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657600" y="65471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943600" y="6547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 / float64 / datetime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21040" y="4069080"/>
            <a:ext cx="3520440" cy="2514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4582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Transaction Date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8458200" y="46177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rows (4.6%) with invalid / missing dates were coerced to NaT.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records are retained for item-level and revenue analysis, but excluded from time-series computations where date is required.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DESCRIPTIVE STATISTICS (POST-CLEANING)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7772400" cy="38404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0584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0058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(£)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0058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(£)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777240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481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81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865376"/>
            <a:ext cx="7772400" cy="43891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19568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9568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£2.95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9568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£8.93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40864"/>
            <a:ext cx="777240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4323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2432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4323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£1.24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4323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£6.00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816352"/>
            <a:ext cx="7772400" cy="43891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2907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077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£1.00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9077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291840"/>
            <a:ext cx="777240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Pct (Q1)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£2.00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767328"/>
            <a:ext cx="7772400" cy="43891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3858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(Q2)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56032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£3.00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242816"/>
            <a:ext cx="7772400" cy="43891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7200" y="4334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Pct (Q3)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2560320" y="4334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4334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£4.00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4334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£12.00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718304"/>
            <a:ext cx="7772400" cy="438912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57200" y="48097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560320" y="4809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0" y="4809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£5.00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4809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£25.00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960120"/>
            <a:ext cx="3520440" cy="5577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45820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58200" y="16733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05088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symmetric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705088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(3.03) ≈ Median (3) — near-uniform spread across 1–5 units.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458200" y="25877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705088" y="2514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uniform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705088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£2.95 ≈ Median £3.00 — no heavy price skew unlike retail data.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58200" y="35021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705088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is symmetric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705088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£8.93 ≈ Median £8.00 — café data is well-distributed.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458200" y="44165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705088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transaction £25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705088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5 × Price 5 = £25 upper cap — no Electronics-style outliers.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458200" y="53309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705088" y="5257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values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8705088" y="5577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quantity, price, and spend values are positive after cleaning.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32004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Distribution Summary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320040" y="5596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£4 · Median: £8 · Q3: £12 · IQR: £8 · Upper Fence: £24 · 268 outliers above £24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ITEM &amp; REVENUE ANALYSIS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406640" y="960120"/>
          <a:ext cx="4434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86460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84632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is the top revenue earner at £17,365 — highest price per unit (£5)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0040" y="521208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4632" y="51480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leads in transaction volume (1,171 txns) despite mid-range revenue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0040" y="555955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84632" y="54955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Cookie have lowest revenue — low unit prices suppress totals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5907024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84632" y="58430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driven by Price Per Unit, not transaction count (similar to retail)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PAYMENT METHOD &amp; LOCATION BREAKDOWN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960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356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Unknown/Missing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029200" cy="16459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691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075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467583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331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2,291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432482" cy="16459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971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355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403231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95020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995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ERROR/Not def.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1168085" cy="1645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4251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25.79% of transactions have unknown payment method — requires source-level fix.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960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Location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138988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92240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defined/Missing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691640"/>
            <a:ext cx="5029200" cy="16459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744200" y="1691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02996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2331720"/>
            <a:ext cx="4654898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744200" y="2331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55080" y="267004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2715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2971800"/>
            <a:ext cx="4647196" cy="16459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744200" y="2971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3,017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55080" y="331012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92240" y="3355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611880"/>
            <a:ext cx="551441" cy="1645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744200" y="3611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3950208"/>
            <a:ext cx="5486400" cy="53035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92240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4251960"/>
            <a:ext cx="520634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744200" y="4251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35508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32.65% of transactions have undefined/missing location — biggest data gap in dataset.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5166360"/>
            <a:ext cx="11521440" cy="1417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0292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2920" y="573328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7512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Wallet, Credit Card and Cash are nearly equal in known payment methods (~2,270 each)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5952744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67512" y="58887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and In-store are split nearly 50/50 among known locations (3,022 vs 3,017)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617220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67512" y="61081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"Unknown" and "Not defined" categories result from NULL imputation during cleaning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" y="6391656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67512" y="63276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strings in both columns were coerced to NaT/NaN and should be investigated upstream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TIME SERIES — MONTHLY SALES TREND (FY 2023)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601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960120"/>
            <a:ext cx="352044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58200" y="1005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(£)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321040" y="1344168"/>
            <a:ext cx="3520440" cy="3566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1399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1399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£7,281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21040" y="1737360"/>
            <a:ext cx="3520440" cy="356616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58200" y="1792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966960" y="1792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£6,660.5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21040" y="2130552"/>
            <a:ext cx="3520440" cy="3566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5820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966960" y="21854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£7,226.5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523744"/>
            <a:ext cx="3520440" cy="356616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5820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966960" y="2578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£7,207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21040" y="2916936"/>
            <a:ext cx="3520440" cy="3566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45820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96696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£7,007.5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321040" y="3310128"/>
            <a:ext cx="3520440" cy="356616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458200" y="3364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966960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£7,362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321040" y="3703320"/>
            <a:ext cx="3520440" cy="3566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458200" y="3758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966960" y="37581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£6,885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321040" y="4096512"/>
            <a:ext cx="3520440" cy="356616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458200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9966960" y="4151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£7,110.5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321040" y="4489704"/>
            <a:ext cx="3520440" cy="3566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458200" y="4544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966960" y="4544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£6,894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321040" y="4882896"/>
            <a:ext cx="3520440" cy="356616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458200" y="4937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966960" y="4937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£7,323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321040" y="5276088"/>
            <a:ext cx="3520440" cy="35661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458200" y="5330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966960" y="5330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£6,969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321040" y="5669280"/>
            <a:ext cx="3520440" cy="356616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458200" y="5724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9966960" y="5724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£7,210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20040" y="532180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84632" y="5257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peaks at £7,281 — highest month of the year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20040" y="566928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84632" y="5605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drops to £6,660 — lowest monthly sales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20040" y="601675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84632" y="59527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oscillate in a £600 range — relatively stable café revenue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320040" y="6364224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84632" y="63002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dramatic seasonal spikes unlike retail — café spending is consistent year-round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OUTLIER DETECTION — IQR &amp; Z-SCORE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00" cy="53035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— Total Spent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120640" cy="502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(25th Percentile)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120640" cy="50292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(75th Percentile)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£12.00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5120640" cy="502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(Q3 – Q1)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5120640" cy="50292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(Q1 – 1.5×IQR)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£8.00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5120640" cy="502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(Q3 + 1.5×IQR)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£24.00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5120640" cy="50292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records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3035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records exceed £24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(2.68% of dataset)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960120"/>
            <a:ext cx="5577840" cy="53035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46520" y="1600200"/>
            <a:ext cx="521208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0" y="1645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0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Z&gt;3?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46520" y="1984248"/>
            <a:ext cx="5212080" cy="4572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2075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£2.95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2075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£1.24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424160" y="2075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2487168"/>
            <a:ext cx="5212080" cy="457200"/>
          </a:xfrm>
          <a:prstGeom prst="rect">
            <a:avLst/>
          </a:prstGeom>
          <a:solidFill>
            <a:srgbClr val="163A5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83680" y="2578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2578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£8.93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2578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£6.00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424160" y="2578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2926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Formula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310128"/>
            <a:ext cx="521208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62940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– mean) / std_dev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46520" y="417880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611112" y="4114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ranges 1–5 with std 1.24 → max z ≈ 1.7: no outliers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463600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611112" y="4572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max is £25; z=(25–8.93)/6.00 = 2.68 → borderline, not extreme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46520" y="509320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611112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is stricter here — catches 268 records above the £24 fence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46520" y="555040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611112" y="5486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268 records are legitimate high-qty × high-price combos, not errors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CONCLUSIONS &amp; RECOMMENDATIONS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21408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109728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1124712"/>
            <a:ext cx="1892808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9,540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84632" y="1530706"/>
            <a:ext cx="1892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5184" y="960120"/>
            <a:ext cx="2121408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Shape 8"/>
          <p:cNvSpPr/>
          <p:nvPr/>
        </p:nvSpPr>
        <p:spPr>
          <a:xfrm>
            <a:off x="2615184" y="9601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79776" y="1124712"/>
            <a:ext cx="1892808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1530706"/>
            <a:ext cx="1892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0328" y="960120"/>
            <a:ext cx="2121408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Shape 12"/>
          <p:cNvSpPr/>
          <p:nvPr/>
        </p:nvSpPr>
        <p:spPr>
          <a:xfrm>
            <a:off x="4910328" y="960120"/>
            <a:ext cx="54864" cy="10972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74920" y="1124712"/>
            <a:ext cx="1892808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530706"/>
            <a:ext cx="1892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05472" y="960120"/>
            <a:ext cx="2121408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7205472" y="960120"/>
            <a:ext cx="54864" cy="109728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70064" y="1124712"/>
            <a:ext cx="1892808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370064" y="1530706"/>
            <a:ext cx="1892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00616" y="960120"/>
            <a:ext cx="2121408" cy="10972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0616" y="9601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65208" y="1124712"/>
            <a:ext cx="1892808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£8.93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665208" y="1530706"/>
            <a:ext cx="1892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240280"/>
            <a:ext cx="3749040" cy="4343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240280"/>
            <a:ext cx="374904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2286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Fix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8620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upstream system to capture Location &amp; Payment Method at point-of-sale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7764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" y="37033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"UNKNOWN" / "ERROR" as stored values — use NULL instead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908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" y="46177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Total Spent = Qty × Price at transaction entry to prevent ERROR rows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56052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" y="55321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validation for Transaction Date — reject invalid date strings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2240280"/>
            <a:ext cx="3749040" cy="4343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7" name="Shape 35"/>
          <p:cNvSpPr/>
          <p:nvPr/>
        </p:nvSpPr>
        <p:spPr>
          <a:xfrm>
            <a:off x="4251960" y="2240280"/>
            <a:ext cx="374904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389120" y="2286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Strategy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2862072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53712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&amp; Smoothie are premium — promote via combo deals to boost volume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9120" y="3776472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53712" y="37033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&amp; Cookie have high frequency but low revenue — bundle upsell opportunity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0" y="4690872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53712" y="46177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leads in transactions — loyalty reward for frequent juice buyers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89120" y="5605272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553712" y="55321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is weakest month — consider seasonal promotion or limited menu items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83880" y="2240280"/>
            <a:ext cx="3749040" cy="4343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8" name="Shape 46"/>
          <p:cNvSpPr/>
          <p:nvPr/>
        </p:nvSpPr>
        <p:spPr>
          <a:xfrm>
            <a:off x="8183880" y="2240280"/>
            <a:ext cx="3749040" cy="41148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321040" y="2286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Roadmap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21040" y="2862072"/>
            <a:ext cx="91440" cy="9144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485632" y="27889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CLV model using Transaction ID repeat-purchase tracking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21040" y="3776472"/>
            <a:ext cx="91440" cy="9144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485632" y="37033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Location (In-store vs Takeaway) for targeted campaigns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4690872"/>
            <a:ext cx="91440" cy="9144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485632" y="46177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268 IQR outlier transactions for premium customer patterns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21040" y="5605272"/>
            <a:ext cx="91440" cy="9144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485632" y="55321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Revenue Per Unique Customer KPI — currently ~£8.93 avg spend per txn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TO CLEAN DATA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651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Sales Analysis — Complete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3429000"/>
            <a:ext cx="210312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3429000"/>
            <a:ext cx="210312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3429000"/>
            <a:ext cx="210312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3429000"/>
            <a:ext cx="2103120" cy="11887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£8.93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4041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NumPy · IQR · Z-Score  |  Dataset: dirty_cafe_sales.csv  |  Task 3 — Data Analytics Division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2026-09-06T01:22:22Z</dcterms:created>
  <dcterms:modified xsi:type="dcterms:W3CDTF">2026-09-06T01:22:22Z</dcterms:modified>
</cp:coreProperties>
</file>